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22" r:id="rId5"/>
    <p:sldId id="325" r:id="rId6"/>
    <p:sldId id="323" r:id="rId7"/>
    <p:sldId id="326" r:id="rId8"/>
    <p:sldId id="324" r:id="rId9"/>
    <p:sldId id="31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5388" autoAdjust="0"/>
  </p:normalViewPr>
  <p:slideViewPr>
    <p:cSldViewPr snapToGrid="0">
      <p:cViewPr varScale="1">
        <p:scale>
          <a:sx n="103" d="100"/>
          <a:sy n="103" d="100"/>
        </p:scale>
        <p:origin x="870" y="108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dmaru/slimevolleygym" TargetMode="External"/><Relationship Id="rId2" Type="http://schemas.openxmlformats.org/officeDocument/2006/relationships/hyperlink" Target="https://github.com/AgileRL/AgileRL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farama-foundation/gymnasium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825" y="2404980"/>
            <a:ext cx="9060024" cy="120032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pl-PL" dirty="0"/>
              <a:t>Uczenie ze wzmocnieniem w środowisku </a:t>
            </a:r>
            <a:r>
              <a:rPr lang="en-US" noProof="0" dirty="0"/>
              <a:t>Slime Volleyball </a:t>
            </a:r>
            <a:endParaRPr lang="pl-PL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66DC9-140D-810B-CCA8-9E5D43A0203D}"/>
              </a:ext>
            </a:extLst>
          </p:cNvPr>
          <p:cNvSpPr txBox="1"/>
          <p:nvPr/>
        </p:nvSpPr>
        <p:spPr>
          <a:xfrm>
            <a:off x="3016898" y="3913085"/>
            <a:ext cx="727787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l-PL" sz="2000" dirty="0">
                <a:solidFill>
                  <a:schemeClr val="bg1"/>
                </a:solidFill>
                <a:latin typeface="+mj-lt"/>
              </a:rPr>
              <a:t>Ewolucja oraz algorytm PPO w grze 2D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50C1D2-66CB-6316-70B0-A2DF087B8765}"/>
              </a:ext>
            </a:extLst>
          </p:cNvPr>
          <p:cNvSpPr txBox="1"/>
          <p:nvPr/>
        </p:nvSpPr>
        <p:spPr>
          <a:xfrm>
            <a:off x="2864498" y="6202196"/>
            <a:ext cx="7277878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l-PL" sz="20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Autor: Robert Mesek</a:t>
            </a:r>
            <a:endParaRPr lang="en-US" sz="2000" dirty="0">
              <a:solidFill>
                <a:schemeClr val="bg1">
                  <a:lumMod val="6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19101-4570-2279-8651-AEC34B07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40C3A-F4FE-0B4F-7DFA-2B8E3C976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pl-PL" b="1" dirty="0"/>
              <a:t>Środowisko i zasady gry</a:t>
            </a:r>
            <a:endParaRPr lang="pl-PL" b="1" i="1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3BDDA-70CE-A3B1-A46A-805E108F679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4645847" cy="4119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1600" dirty="0">
                <a:latin typeface="Tisa Offc Serif Pro" panose="02010504030101020102" pitchFamily="2" charset="0"/>
              </a:rPr>
              <a:t>Celem agenta jest sprawienie, by piłka wylądowała na polu przeciwnika, co powoduje utratę jednego życia przez przeciwnika. Każdy agent zaczyna z pięcioma życiami. Epizod kończy się, gdy któryś z agentów straci wszystkie pięć żyć lub po upływie 3000 kroków czasowych. Agent otrzymuje nagrodę w postaci +1, gdy przeciwnik straci życie, lub -1, gdy to on straci życie. </a:t>
            </a:r>
          </a:p>
          <a:p>
            <a:pPr marL="0" indent="0">
              <a:buNone/>
            </a:pPr>
            <a:r>
              <a:rPr lang="pl-PL" sz="1600" dirty="0">
                <a:latin typeface="Tisa Offc Serif Pro" panose="02010504030101020102" pitchFamily="2" charset="0"/>
              </a:rPr>
              <a:t>Środowisko zostało wzbogacone o nagrodę o wartości 0.01 za przebicie piłki nad siatką oraz limit 3 odbić pod rząd przez jednego agenta.</a:t>
            </a:r>
          </a:p>
          <a:p>
            <a:r>
              <a:rPr lang="pl-PL" sz="1600" b="1" dirty="0">
                <a:latin typeface="Tisa Offc Serif Pro" panose="02010504030101020102" pitchFamily="2" charset="0"/>
              </a:rPr>
              <a:t>Stan Gry</a:t>
            </a:r>
            <a:r>
              <a:rPr lang="pl-PL" sz="1600" dirty="0">
                <a:latin typeface="Tisa Offc Serif Pro" panose="02010504030101020102" pitchFamily="2" charset="0"/>
              </a:rPr>
              <a:t>: 12-wymiarowy wektor cech (pozycje i prędkości x, y).</a:t>
            </a:r>
          </a:p>
          <a:p>
            <a:r>
              <a:rPr lang="pl-PL" sz="1600" b="1" dirty="0">
                <a:latin typeface="Tisa Offc Serif Pro" panose="02010504030101020102" pitchFamily="2" charset="0"/>
              </a:rPr>
              <a:t>Akcje</a:t>
            </a:r>
            <a:r>
              <a:rPr lang="pl-PL" sz="1600" dirty="0">
                <a:latin typeface="Tisa Offc Serif Pro" panose="02010504030101020102" pitchFamily="2" charset="0"/>
              </a:rPr>
              <a:t>: 3 bity (Przód, Tył, Skok).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A0995-208C-668A-66DA-8AF7F5BAC8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pl-PL" noProof="0" smtClean="0"/>
              <a:pPr/>
              <a:t>2</a:t>
            </a:fld>
            <a:endParaRPr lang="pl-PL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141CA0-4904-A7AE-1F1E-690EE588D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816" y="2108722"/>
            <a:ext cx="4823927" cy="41194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4290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075C3-0FF1-51A9-687B-0E7A7F50B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6F745-3EC2-9FEC-3E9D-04E80EDF3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pl-PL" b="1" noProof="0" dirty="0"/>
              <a:t>Mechanizmy sztucznej inteligencji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180F5-9167-973B-6D25-3EAB686FC0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2982264" cy="4119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400" b="1" dirty="0">
                <a:latin typeface="Tisa Offc Serif Pro" panose="02010504030101020102" pitchFamily="2" charset="0"/>
              </a:rPr>
              <a:t>Algorytm PPO</a:t>
            </a:r>
          </a:p>
          <a:p>
            <a:pPr marL="0" indent="0">
              <a:buNone/>
            </a:pPr>
            <a:r>
              <a:rPr lang="pl-PL" sz="1600" dirty="0">
                <a:latin typeface="Tisa Offc Serif Pro" panose="02010504030101020102" pitchFamily="2" charset="0"/>
              </a:rPr>
              <a:t>Stabilna metoda gradientowa optymalizującą politykę agenta w trakcie gry. Działa ona dobrze w tego typu problemach dzięki mechanizmowi przycinania funkcji celu, co zapobiega zbyt agresywnym aktualizacjom wag.</a:t>
            </a:r>
            <a:endParaRPr lang="pl-PL" sz="1600" noProof="0" dirty="0">
              <a:latin typeface="Tisa Offc Serif Pro" panose="02010504030101020102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C2115-E105-8C78-9B8D-651BD59DAA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pl-PL" noProof="0" smtClean="0"/>
              <a:pPr/>
              <a:t>3</a:t>
            </a:fld>
            <a:endParaRPr lang="pl-PL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1A7216D-5B35-290D-7530-05ACEB6FE86D}"/>
              </a:ext>
            </a:extLst>
          </p:cNvPr>
          <p:cNvSpPr txBox="1">
            <a:spLocks/>
          </p:cNvSpPr>
          <p:nvPr/>
        </p:nvSpPr>
        <p:spPr>
          <a:xfrm>
            <a:off x="4641035" y="2108721"/>
            <a:ext cx="2982264" cy="4119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2400" b="1" dirty="0">
                <a:latin typeface="Tisa Offc Serif Pro" panose="02010504030101020102" pitchFamily="2" charset="0"/>
              </a:rPr>
              <a:t>Polityka ekspercka</a:t>
            </a:r>
          </a:p>
          <a:p>
            <a:pPr marL="0" indent="0">
              <a:buNone/>
            </a:pPr>
            <a:r>
              <a:rPr lang="pl-PL" sz="1600" dirty="0">
                <a:latin typeface="Tisa Offc Serif Pro" panose="02010504030101020102" pitchFamily="2" charset="0"/>
              </a:rPr>
              <a:t>Agent uczy się poprzez bezpośrednią rywalizację z wbudowanym, wytrenowanym genetycznie ekspertem, małą 120 parametrową rekurencyjną siecią neuronową wytrenowaną metodą self-play.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388889-58BC-2C50-BCEE-D5F40728E6C0}"/>
              </a:ext>
            </a:extLst>
          </p:cNvPr>
          <p:cNvSpPr txBox="1">
            <a:spLocks/>
          </p:cNvSpPr>
          <p:nvPr/>
        </p:nvSpPr>
        <p:spPr>
          <a:xfrm>
            <a:off x="7831915" y="2108720"/>
            <a:ext cx="3066239" cy="4119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l-PL" sz="2400" b="1" dirty="0">
                <a:latin typeface="Tisa Offc Serif Pro" panose="02010504030101020102" pitchFamily="2" charset="0"/>
              </a:rPr>
              <a:t>Ewolucja</a:t>
            </a:r>
          </a:p>
          <a:p>
            <a:pPr marL="0" indent="0">
              <a:buNone/>
            </a:pPr>
            <a:r>
              <a:rPr lang="pl-PL" sz="1600" dirty="0">
                <a:latin typeface="Tisa Offc Serif Pro" panose="02010504030101020102" pitchFamily="2" charset="0"/>
              </a:rPr>
              <a:t>Biblioteka AgileRL dostarcza ewolucyjną metodę optymalizacji parametrów w trakcie uczenia. Mutują hiperparametry algorytmu oraz sama architektura sieci neuronowej.</a:t>
            </a:r>
          </a:p>
        </p:txBody>
      </p:sp>
    </p:spTree>
    <p:extLst>
      <p:ext uri="{BB962C8B-B14F-4D97-AF65-F5344CB8AC3E}">
        <p14:creationId xmlns:p14="http://schemas.microsoft.com/office/powerpoint/2010/main" val="84224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9EB1-00F6-2CC0-7B4A-A437B9AA7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Przebieg procesu uczenia algorytmu PPO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1516C0-F976-C49C-9E85-55A526771C8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4462184" y="1931437"/>
            <a:ext cx="7231224" cy="43387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71402-8979-D45A-6C10-C2C2473C375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AEA13FE-9249-BC91-3DE3-D3D75802BD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81117" y="1931437"/>
                <a:ext cx="2845649" cy="4338734"/>
              </a:xfrm>
              <a:prstGeom prst="rect">
                <a:avLst/>
              </a:prstGeom>
            </p:spPr>
            <p:txBody>
              <a:bodyPr vert="horz" lIns="0" tIns="0" rIns="0" bIns="0" rtlCol="0"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pl-PL" sz="9600" b="1" dirty="0">
                    <a:latin typeface="Tisa Offc Serif Pro" panose="02010504030101020102" pitchFamily="2" charset="0"/>
                  </a:rPr>
                  <a:t>Finalny model</a:t>
                </a:r>
              </a:p>
              <a:p>
                <a:pPr marL="0" indent="0">
                  <a:buNone/>
                </a:pPr>
                <a:r>
                  <a:rPr lang="pl-PL" sz="6400" dirty="0">
                    <a:latin typeface="Tisa Offc Serif Pro" panose="02010504030101020102" pitchFamily="2" charset="0"/>
                  </a:rPr>
                  <a:t>Sieć neuronowa samodzielnie rozbudowała się do 3 warstw o rozmiarach 64, 80 i 32 neuronów z aktywacją ReLU.</a:t>
                </a:r>
              </a:p>
              <a:p>
                <a:pPr marL="0" indent="0">
                  <a:buNone/>
                </a:pPr>
                <a:r>
                  <a:rPr lang="pl-PL" sz="6400" dirty="0">
                    <a:latin typeface="Tisa Offc Serif Pro" panose="02010504030101020102" pitchFamily="2" charset="0"/>
                  </a:rPr>
                  <a:t>Współczynnik uczenia w końcowym etapie wyniósł </a:t>
                </a:r>
                <a14:m>
                  <m:oMath xmlns:m="http://schemas.openxmlformats.org/officeDocument/2006/math">
                    <m:r>
                      <a:rPr lang="pl-PL" sz="6400" i="1">
                        <a:latin typeface="+mj-lt"/>
                      </a:rPr>
                      <m:t>9</m:t>
                    </m:r>
                    <m:r>
                      <a:rPr lang="pl-PL" sz="6400" b="0" i="1" smtClean="0">
                        <a:latin typeface="+mj-lt"/>
                      </a:rPr>
                      <m:t>.8</m:t>
                    </m:r>
                    <m:r>
                      <a:rPr lang="pl-PL" sz="6400" b="0" i="1" smtClean="0">
                        <a:latin typeface="+mj-lt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pl-PL" sz="6400" b="0" i="1" smtClean="0">
                            <a:latin typeface="+mj-lt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6400" b="0" i="1" smtClean="0">
                            <a:latin typeface="+mj-lt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pl-PL" sz="6400" b="0" i="1" smtClean="0">
                            <a:latin typeface="+mj-lt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pl-PL" sz="6400" dirty="0">
                    <a:latin typeface="Tisa Offc Serif Pro" panose="02010504030101020102" pitchFamily="2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pl-PL" sz="6400" dirty="0">
                    <a:latin typeface="Tisa Offc Serif Pro" panose="02010504030101020102" pitchFamily="2" charset="0"/>
                  </a:rPr>
                  <a:t>Wielkość paczki danych (</a:t>
                </a:r>
                <a:r>
                  <a:rPr lang="en-US" sz="6400" noProof="0" dirty="0">
                    <a:latin typeface="Tisa Offc Serif Pro" panose="02010504030101020102" pitchFamily="2" charset="0"/>
                  </a:rPr>
                  <a:t>batch size</a:t>
                </a:r>
                <a:r>
                  <a:rPr lang="pl-PL" sz="6400" dirty="0">
                    <a:latin typeface="Tisa Offc Serif Pro" panose="02010504030101020102" pitchFamily="2" charset="0"/>
                  </a:rPr>
                  <a:t>) wzrosła do 564, a rozmiar kroku środowiska przybrał wartość 648.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AEA13FE-9249-BC91-3DE3-D3D75802B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117" y="1931437"/>
                <a:ext cx="2845649" cy="4338734"/>
              </a:xfrm>
              <a:prstGeom prst="rect">
                <a:avLst/>
              </a:prstGeom>
              <a:blipFill>
                <a:blip r:embed="rId3"/>
                <a:stretch>
                  <a:fillRect l="-6652" t="-3511" r="-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679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5E1F5-42D5-414B-1D65-AE29026F0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0D28A-4554-CCBB-8E79-1B6EC848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pl-PL" b="1" noProof="0" dirty="0"/>
              <a:t>Wykorzystane biblioteki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EA8E63E-D38C-AA06-6FE6-7B92E3D20256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53419549"/>
              </p:ext>
            </p:extLst>
          </p:nvPr>
        </p:nvGraphicFramePr>
        <p:xfrm>
          <a:off x="1449388" y="2108200"/>
          <a:ext cx="8553450" cy="23774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600098">
                  <a:extLst>
                    <a:ext uri="{9D8B030D-6E8A-4147-A177-3AD203B41FA5}">
                      <a16:colId xmlns:a16="http://schemas.microsoft.com/office/drawing/2014/main" val="2402208359"/>
                    </a:ext>
                  </a:extLst>
                </a:gridCol>
                <a:gridCol w="5953352">
                  <a:extLst>
                    <a:ext uri="{9D8B030D-6E8A-4147-A177-3AD203B41FA5}">
                      <a16:colId xmlns:a16="http://schemas.microsoft.com/office/drawing/2014/main" val="8336296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sz="2400" b="1" dirty="0">
                          <a:latin typeface="Tisa Offc Serif Pro" panose="02010504030101020102" pitchFamily="2" charset="0"/>
                        </a:rPr>
                        <a:t>Biblioteka</a:t>
                      </a:r>
                      <a:endParaRPr lang="en-US" sz="2400" b="1" dirty="0">
                        <a:latin typeface="Tisa Offc Serif Pro" panose="02010504030101020102" pitchFamily="2" charset="0"/>
                      </a:endParaRPr>
                    </a:p>
                  </a:txBody>
                  <a:tcPr>
                    <a:solidFill>
                      <a:srgbClr val="95B8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2400" b="1" dirty="0">
                          <a:latin typeface="Tisa Offc Serif Pro" panose="02010504030101020102" pitchFamily="2" charset="0"/>
                        </a:rPr>
                        <a:t>Rola w projekcie</a:t>
                      </a:r>
                      <a:endParaRPr lang="en-US" sz="2400" b="1" dirty="0">
                        <a:latin typeface="Tisa Offc Serif Pro" panose="02010504030101020102" pitchFamily="2" charset="0"/>
                      </a:endParaRPr>
                    </a:p>
                  </a:txBody>
                  <a:tcPr>
                    <a:solidFill>
                      <a:srgbClr val="95B8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576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sa Offc Serif Pro" panose="02010504030101020102" pitchFamily="2" charset="0"/>
                          <a:hlinkClick r:id="rId2"/>
                        </a:rPr>
                        <a:t>AgileRL</a:t>
                      </a:r>
                      <a:endParaRPr lang="en-US" dirty="0">
                        <a:latin typeface="Tisa Offc Serif Pro" panose="02010504030101020102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>
                          <a:latin typeface="Tisa Offc Serif Pro" panose="02010504030101020102" pitchFamily="2" charset="0"/>
                        </a:rPr>
                        <a:t>Implementacja algorytmów RL i ewolucyjna optymalizacja hiperparametrów.</a:t>
                      </a:r>
                      <a:endParaRPr lang="en-US" dirty="0">
                        <a:latin typeface="Tisa Offc Serif Pro" panose="02010504030101020102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141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sa Offc Serif Pro" panose="02010504030101020102" pitchFamily="2" charset="0"/>
                          <a:hlinkClick r:id="rId3"/>
                        </a:rPr>
                        <a:t>SlimeVolleyGym</a:t>
                      </a:r>
                      <a:endParaRPr lang="en-US" dirty="0">
                        <a:latin typeface="Tisa Offc Serif Pro" panose="02010504030101020102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>
                          <a:latin typeface="Tisa Offc Serif Pro" panose="02010504030101020102" pitchFamily="2" charset="0"/>
                        </a:rPr>
                        <a:t>Oryginalny silnik fizyczny gry oraz interfejs środowiska kompatybilny z historycznym OpenAI Gym.</a:t>
                      </a:r>
                      <a:endParaRPr lang="en-US" dirty="0">
                        <a:latin typeface="Tisa Offc Serif Pro" panose="02010504030101020102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438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sa Offc Serif Pro" panose="02010504030101020102" pitchFamily="2" charset="0"/>
                          <a:hlinkClick r:id="rId4"/>
                        </a:rPr>
                        <a:t>Gymnasium</a:t>
                      </a:r>
                      <a:endParaRPr lang="en-US" dirty="0">
                        <a:latin typeface="Tisa Offc Serif Pro" panose="02010504030101020102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>
                          <a:latin typeface="Tisa Offc Serif Pro" panose="02010504030101020102" pitchFamily="2" charset="0"/>
                        </a:rPr>
                        <a:t>Nowoczesna standard API dla agentowego uczenia ze wzmocnieniem zastępujący OpenAI Gym.</a:t>
                      </a:r>
                      <a:endParaRPr lang="en-US" dirty="0">
                        <a:latin typeface="Tisa Offc Serif Pro" panose="02010504030101020102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40118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33386-230E-8977-616E-634515E6826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pl-PL" noProof="0" smtClean="0"/>
              <a:pPr/>
              <a:t>5</a:t>
            </a:fld>
            <a:endParaRPr lang="pl-PL" noProof="0" dirty="0"/>
          </a:p>
        </p:txBody>
      </p:sp>
    </p:spTree>
    <p:extLst>
      <p:ext uri="{BB962C8B-B14F-4D97-AF65-F5344CB8AC3E}">
        <p14:creationId xmlns:p14="http://schemas.microsoft.com/office/powerpoint/2010/main" val="145544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pl-PL" dirty="0"/>
              <a:t>Live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{B6D8DAC5-CF45-4195-805E-198E01508F8A}TF3977e381-cba5-49b1-ba43-b5d865517af907ebbda9_win32-372d4d6ae720</Template>
  <TotalTime>128</TotalTime>
  <Words>324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Tisa Offc Serif Pro</vt:lpstr>
      <vt:lpstr>Univers Light</vt:lpstr>
      <vt:lpstr>Custom</vt:lpstr>
      <vt:lpstr>Uczenie ze wzmocnieniem w środowisku Slime Volleyball </vt:lpstr>
      <vt:lpstr>Środowisko i zasady gry</vt:lpstr>
      <vt:lpstr>Mechanizmy sztucznej inteligencji</vt:lpstr>
      <vt:lpstr>Przebieg procesu uczenia algorytmu PPO</vt:lpstr>
      <vt:lpstr>Wykorzystane biblioteki</vt:lpstr>
      <vt:lpstr>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rmesek</dc:creator>
  <cp:lastModifiedBy>rmesek</cp:lastModifiedBy>
  <cp:revision>33</cp:revision>
  <dcterms:created xsi:type="dcterms:W3CDTF">2026-05-18T21:41:12Z</dcterms:created>
  <dcterms:modified xsi:type="dcterms:W3CDTF">2026-06-07T00:18:50Z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